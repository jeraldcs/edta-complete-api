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EB8CF"/>
                </a:solidFill>
                <a:latin typeface="Calibri"/>
              </a:rPr>
              <a:t>INFOQ / ARCHITECTURE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Why Did We Show This?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D7E3EF"/>
                </a:solidFill>
                <a:latin typeface="Calibri"/>
              </a:rPr>
              <a:t>Designing Auditable Recommendation Systems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EB8CF"/>
                </a:solidFill>
                <a:latin typeface="Calibri"/>
              </a:rPr>
              <a:t>Problem → Architecture → Benefits  ·  Trust must change the rank, not just the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Experience-Driven Targeting Architecture (EDTA)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Jerald Selvaraj  ·  jerald.cs@gmail.com  ·  Open-source reference implementation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D7E3EF"/>
                </a:solidFill>
                <a:latin typeface="Calibri"/>
              </a:rPr>
              <a:t>Demo: edta-api.onrender.com/scenario-demo   ·   github.com/jeraldcs/edta-complete-api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7085"/>
                </a:solidFill>
                <a:latin typeface="Calibri"/>
              </a:rPr>
              <a:t>What we will cover in this talk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F6F9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435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324D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</a:rPr>
              <a:t>Why context → model → rank fails enterprises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F6F9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3500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324D"/>
                </a:solidFill>
                <a:latin typeface="Calibri"/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51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</a:rPr>
              <a:t>HAOE, TAPL, EML, TKGE, EDS, OSE — how they fit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F6F9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2644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324D"/>
                </a:solidFill>
                <a:latin typeface="Calibri"/>
              </a:rPr>
              <a:t>Benefits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566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</a:rPr>
              <a:t>Engineering, business, compliance, and multi-industry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69080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336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F6F9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178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324D"/>
                </a:solidFill>
                <a:latin typeface="Calibri"/>
              </a:rPr>
              <a:t>Evidence &amp;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480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</a:rPr>
              <a:t>Live travel scenarios, benchmarks, honest limits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480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F6F9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0932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324D"/>
                </a:solidFill>
                <a:latin typeface="Calibri"/>
              </a:rPr>
              <a:t>How to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394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</a:rPr>
              <a:t>Integrate the API, adapt policy,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7085"/>
                </a:solidFill>
                <a:latin typeface="Calibri"/>
              </a:rPr>
              <a:t>EDTA  ·  Governed Personalization  ·  Overview  ·  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8860B"/>
                </a:solidFill>
                <a:latin typeface="Calibri"/>
              </a:rPr>
              <a:t>PART 01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Problem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C5D4E3"/>
                </a:solidFill>
                <a:latin typeface="Calibri"/>
              </a:rPr>
              <a:t>LLM adoption outpaced governance for personalization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EB8CF"/>
                </a:solidFill>
                <a:latin typeface="Calibri"/>
              </a:rP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A4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A familiar failure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7085"/>
                </a:solidFill>
                <a:latin typeface="Calibri"/>
              </a:rPr>
              <a:t>Travel booking — high intent, wrong offer timing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6949440" cy="4663440"/>
          </a:xfrm>
          <a:prstGeom prst="roundRect">
            <a:avLst>
              <a:gd name="adj" fmla="val 8000"/>
            </a:avLst>
          </a:prstGeom>
          <a:solidFill>
            <a:srgbClr val="FFFBF3"/>
          </a:solidFill>
          <a:ln>
            <a:solidFill>
              <a:srgbClr val="E6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A4D00"/>
                </a:solidFill>
                <a:latin typeface="Calibri"/>
              </a:rPr>
              <a:t>Scenario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44054"/>
                </a:solidFill>
                <a:latin typeface="Calibri"/>
              </a:rPr>
              <a:t>A family traveler searches for an airport SUV rental.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44054"/>
                </a:solidFill>
                <a:latin typeface="Calibri"/>
              </a:rPr>
              <a:t>They move research → consideration → booking in one session.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44054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7A4D00"/>
                </a:solidFill>
                <a:latin typeface="Calibri"/>
              </a:rPr>
              <a:t>What goes wrong with a black-box ranker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44054"/>
                </a:solidFill>
                <a:latin typeface="Calibri"/>
              </a:rPr>
              <a:t>• Right vehicle, wrong moment (already fatigued by banners)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44054"/>
                </a:solidFill>
                <a:latin typeface="Calibri"/>
              </a:rPr>
              <a:t>• Right offer, wrong channel (SMS / push vs web)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44054"/>
                </a:solidFill>
                <a:latin typeface="Calibri"/>
              </a:rPr>
              <a:t>• Personalization continues when consent is false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44054"/>
                </a:solidFill>
                <a:latin typeface="Calibri"/>
              </a:rPr>
              <a:t>• No one can answer “why this offer?” from the API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44054"/>
                </a:solidFill>
                <a:latin typeface="Calibri"/>
              </a:rPr>
              <a:t>• LLM path adds cost without governance guarantees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325880"/>
            <a:ext cx="4023360" cy="466344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73736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8860B"/>
                </a:solidFill>
                <a:latin typeface="Calibri"/>
              </a:rPr>
              <a:t>Thesis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Personalization is a governance problem — not only a ranking problem.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7E3EF"/>
                </a:solidFill>
                <a:latin typeface="Calibri"/>
              </a:rPr>
              <a:t>Relevance without trust, explainability, and cost control is enterprise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7085"/>
                </a:solidFill>
                <a:latin typeface="Calibri"/>
              </a:rPr>
              <a:t>EDTA  ·  Governed Personalization  ·  Problem  ·  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A4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The anti-pattern enterprises still 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7085"/>
                </a:solidFill>
                <a:latin typeface="Calibri"/>
              </a:rPr>
              <a:t>A single model hides decisions that must be auditable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Customer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1732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600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One Model /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00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Ranked Offer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41732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600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Hope &amp; 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783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F6F9F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783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F6F9F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783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F6F9F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1752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A4D00"/>
                </a:solidFill>
                <a:latin typeface="Calibri"/>
              </a:rPr>
              <a:t>Opaque 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Cannot answer why in incidents or reviews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01752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A4D00"/>
                </a:solidFill>
                <a:latin typeface="Calibri"/>
              </a:rPr>
              <a:t>Trust as metadata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611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Consent / fatigue logged, not enforced in rank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01752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A4D00"/>
                </a:solidFill>
                <a:latin typeface="Calibri"/>
              </a:rPr>
              <a:t>LLM-first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11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Unbounded latency, tokens, provider lock-in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3484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63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A4D00"/>
                </a:solidFill>
                <a:latin typeface="Calibri"/>
              </a:rPr>
              <a:t>Single-channel thinking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29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Web rules break on chatbot, SMS, IoT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443484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663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A4D00"/>
                </a:solidFill>
                <a:latin typeface="Calibri"/>
              </a:rPr>
              <a:t>Click-only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029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No expected outcome / trust risk before show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43484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663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A4D00"/>
                </a:solidFill>
                <a:latin typeface="Calibri"/>
              </a:rPr>
              <a:t>Vertical rewrite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029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Each industry rebuilds the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7085"/>
                </a:solidFill>
                <a:latin typeface="Calibri"/>
              </a:rPr>
              <a:t>EDTA  ·  Governed Personalization  ·  Problem  ·  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F6F9F"/>
                </a:solidFill>
                <a:latin typeface="Calibri"/>
              </a:rPr>
              <a:t>PART 02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Architecture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C5D4E3"/>
                </a:solidFill>
                <a:latin typeface="Calibri"/>
              </a:rPr>
              <a:t>A governed decision pipeline — not a single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EB8CF"/>
                </a:solidFill>
                <a:latin typeface="Calibri"/>
              </a:rP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What EDTA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7085"/>
                </a:solidFill>
                <a:latin typeface="Calibri"/>
              </a:rPr>
              <a:t>Experience-Driven Targeting Architecture — open reference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EDF4FB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7324D"/>
                </a:solidFill>
                <a:latin typeface="Calibri"/>
              </a:rPr>
              <a:t>A governed decision pipeline for personalization: Rules, SLM, ML, and optional LLM under explicit orchestration — with trust policy inside ranking and explainability in every API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27432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2743200" cy="50292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HAOE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Calibri"/>
              </a:rPr>
              <a:t>Hybrid AI 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Routes Rules → SLM → ML → LLM with cost budget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834640"/>
            <a:ext cx="27432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834640"/>
            <a:ext cx="2743200" cy="50292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TAPL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520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Calibri"/>
              </a:rPr>
              <a:t>Trust-Aware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2062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show / soften / delay / suppress in the rank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834640"/>
            <a:ext cx="27432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834640"/>
            <a:ext cx="2743200" cy="50292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EML + TKGE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20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Calibri"/>
              </a:rPr>
              <a:t>Memory &amp; Journey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062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Trust, fatigue, preferences, timeline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834640"/>
            <a:ext cx="27432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2834640"/>
            <a:ext cx="2743200" cy="50292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EDS + 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520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Calibri"/>
              </a:rPr>
              <a:t>Score &amp; 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2062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Explainable relevance + conversion sim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7085"/>
                </a:solidFill>
                <a:latin typeface="Calibri"/>
              </a:rPr>
              <a:t>EDTA  ·  Governed Personalization  ·  Architecture  ·  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End-to-end architecture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7085"/>
                </a:solidFill>
                <a:latin typeface="Calibri"/>
              </a:rPr>
              <a:t>Every step is explicit, testable, and visible in the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17320"/>
            <a:ext cx="1554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1945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60604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Calibri"/>
              </a:rPr>
              <a:t>NLP + profile + consent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417320"/>
            <a:ext cx="1554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14600" y="1554480"/>
            <a:ext cx="502920" cy="502920"/>
          </a:xfrm>
          <a:prstGeom prst="ellipse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6276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1945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2" y="260604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Calibri"/>
              </a:rPr>
              <a:t>EML trust &amp; fatigue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1417320"/>
            <a:ext cx="1554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40" y="1554480"/>
            <a:ext cx="502920" cy="502920"/>
          </a:xfrm>
          <a:prstGeom prst="ellipse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6276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21945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Journey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6472" y="260604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Calibri"/>
              </a:rPr>
              <a:t>TKGE timeline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1417320"/>
            <a:ext cx="1554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97880" y="1554480"/>
            <a:ext cx="502920" cy="502920"/>
          </a:xfrm>
          <a:prstGeom prst="ellipse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16276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8112" y="21945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Orchestrate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260604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Calibri"/>
              </a:rPr>
              <a:t>HAOE tier selection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1417320"/>
            <a:ext cx="1554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89520" y="1554480"/>
            <a:ext cx="502920" cy="502920"/>
          </a:xfrm>
          <a:prstGeom prst="ellipse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16276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21945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260604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Calibri"/>
              </a:rPr>
              <a:t>EDS + OSE per candidate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1417320"/>
            <a:ext cx="1554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81160" y="1554480"/>
            <a:ext cx="502920" cy="502920"/>
          </a:xfrm>
          <a:prstGeom prst="ellipse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16276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1392" y="21945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Govern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1392" y="260604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Calibri"/>
              </a:rPr>
              <a:t>TAPL action in rank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69880" y="1417320"/>
            <a:ext cx="1554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72800" y="1554480"/>
            <a:ext cx="502920" cy="502920"/>
          </a:xfrm>
          <a:prstGeom prst="ellipse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0" y="16276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43032" y="21945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Respond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43032" y="260604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Calibri"/>
              </a:rPr>
              <a:t>Explain + learn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023360"/>
            <a:ext cx="11247120" cy="2011680"/>
          </a:xfrm>
          <a:prstGeom prst="roundRect">
            <a:avLst>
              <a:gd name="adj" fmla="val 8000"/>
            </a:avLst>
          </a:prstGeom>
          <a:solidFill>
            <a:srgbClr val="EDF4FB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20624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F6F9F"/>
                </a:solidFill>
                <a:latin typeface="Calibri"/>
              </a:rPr>
              <a:t>Design rule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7324D"/>
                </a:solidFill>
                <a:latin typeface="Calibri"/>
              </a:rPr>
              <a:t>The LLM enriches and explains. It does not own consent, compliance, fatigue, or final trust governance.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44054"/>
                </a:solidFill>
                <a:latin typeface="Calibri"/>
              </a:rPr>
              <a:t>Policy lives in YAML (TAPL, HAOE, industry rules). Ranking modules stay independently testable.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44054"/>
                </a:solidFill>
                <a:latin typeface="Calibri"/>
              </a:rPr>
              <a:t>Implementation: FastAPI · Python · SQLite audit/memory · OpenAPI · 167 automated tests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7085"/>
                </a:solidFill>
                <a:latin typeface="Calibri"/>
              </a:rPr>
              <a:t>EDTA  ·  Governed Personalization  ·  Architecture  ·  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HAOE — four-tier inference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7085"/>
                </a:solidFill>
                <a:latin typeface="Calibri"/>
              </a:rPr>
              <a:t>Hybrid AI Orchestration Engine: right model for the request, not LLM for everything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64592" cy="1024128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44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324D"/>
                </a:solidFill>
                <a:latin typeface="Calibri"/>
              </a:rPr>
              <a:t>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4813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6F9F"/>
                </a:solidFill>
                <a:latin typeface="Calibri"/>
              </a:rPr>
              <a:t>&lt; 50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81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67085"/>
                </a:solidFill>
                <a:latin typeface="Calibri"/>
              </a:rPr>
              <a:t>~0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444752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Structured booking context, auditable intent/journey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23160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164592" cy="1024128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87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324D"/>
                </a:solidFill>
                <a:latin typeface="Calibri"/>
              </a:rPr>
              <a:t>SLM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6243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6F9F"/>
                </a:solidFill>
                <a:latin typeface="Calibri"/>
              </a:rPr>
              <a:t>&lt; 100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624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67085"/>
                </a:solidFill>
                <a:latin typeface="Calibri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87752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Distilled patterns for repeated “family SUV airport” journeys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164592" cy="1024128"/>
          </a:xfrm>
          <a:prstGeom prst="rect">
            <a:avLst/>
          </a:prstGeom>
          <a:solidFill>
            <a:srgbClr val="7A4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30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324D"/>
                </a:solidFill>
                <a:latin typeface="Calibri"/>
              </a:rPr>
              <a:t>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7673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6F9F"/>
                </a:solidFill>
                <a:latin typeface="Calibri"/>
              </a:rPr>
              <a:t>&lt; 300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767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67085"/>
                </a:solidFill>
                <a:latin typeface="Calibri"/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30752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Catalog-aligned classifiers for intent, TAPL, outcome, rank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709160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709160"/>
            <a:ext cx="164592" cy="10241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73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324D"/>
                </a:solidFill>
                <a:latin typeface="Calibri"/>
              </a:rPr>
              <a:t>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9103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6F9F"/>
                </a:solidFill>
                <a:latin typeface="Calibri"/>
              </a:rPr>
              <a:t>Seconds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910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67085"/>
                </a:solidFill>
                <a:latin typeface="Calibri"/>
              </a:rPr>
              <a:t>Highest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73752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Ambiguous chatbot text + explanations — optional &amp; budget-gated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7085"/>
                </a:solidFill>
                <a:latin typeface="Calibri"/>
              </a:rPr>
              <a:t>EDTA  ·  Governed Personalization  ·  Architecture  · 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Scoring + governance inside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7085"/>
                </a:solidFill>
                <a:latin typeface="Calibri"/>
              </a:rPr>
              <a:t>EDS explains relevance · OSE predicts outcome · TAPL changes the final rank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5577840" cy="50292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EDS + Outcome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Calibri"/>
              </a:rPr>
              <a:t>Experience DNA Score (EDS)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Intent · engagement · business value · journey · context − risk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344054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Calibri"/>
              </a:rPr>
              <a:t>Outcome Simulation (OSE)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Conversion probability · revenue impact · trust/fatigue risk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344054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Calibri"/>
              </a:rPr>
              <a:t>Final hybrid rank blends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EDS + semantic + channel fit + trust + outcome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+ empathy / preference boosts (travel)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344054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  <a:latin typeface="Calibri"/>
              </a:rPr>
              <a:t>All of this is returned in the recommendation JSON.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50292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TAPL — Trust-Aware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7A4D"/>
                </a:solidFill>
                <a:latin typeface="Calibri"/>
              </a:rPr>
              <a:t>show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677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Normal personalized offer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7A4D"/>
                </a:solidFill>
                <a:latin typeface="Calibri"/>
              </a:rPr>
              <a:t>soften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980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Tone down aggressive upsell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723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7A4D"/>
                </a:solidFill>
                <a:latin typeface="Calibri"/>
              </a:rPr>
              <a:t>delay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284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Hold when fatigue is high (~×0.55 score)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027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7A4D"/>
                </a:solidFill>
                <a:latin typeface="Calibri"/>
              </a:rPr>
              <a:t>suppress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58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Block sensitive channel/content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330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7A4D"/>
                </a:solidFill>
                <a:latin typeface="Calibri"/>
              </a:rPr>
              <a:t>generic_fallback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891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No consent → non-personalized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7085"/>
                </a:solidFill>
                <a:latin typeface="Calibri"/>
              </a:rPr>
              <a:t>EDTA  ·  Governed Personalization  ·  Architecture  ·  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7A4D"/>
                </a:solidFill>
                <a:latin typeface="Calibri"/>
              </a:rPr>
              <a:t>PART 03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Benefits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C5D4E3"/>
                </a:solidFill>
                <a:latin typeface="Calibri"/>
              </a:rPr>
              <a:t>Engineering, business, trust — and multi-industry reuse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EB8CF"/>
                </a:solidFill>
                <a:latin typeface="Calibri"/>
              </a:rP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Benefits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7085"/>
                </a:solidFill>
                <a:latin typeface="Calibri"/>
              </a:rPr>
              <a:t>Why teams adopt a governed pipeline instead of another black-box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3703320" cy="59436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 Modular, testable layers (167 tests)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 Cost control via HAOE budgets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 Runs without OpenAI (LLM optional)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 Policy as YAML — no ranker rewrites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 OpenAPI + request_id correlation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703320" cy="594360"/>
          </a:xfrm>
          <a:prstGeom prst="rect">
            <a:avLst/>
          </a:prstGeom>
          <a:solidFill>
            <a:srgbClr val="7A4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3898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Business /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031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 Outcome-aware ranking (OSE)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432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 Fatigue-aware 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38328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 Journey-fit upsell (TKGE + empathy)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0233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 Compare offers before A/B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6344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 Faster vertical experiments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128016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1280160"/>
            <a:ext cx="3703320" cy="59436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13898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Trust /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9" y="21031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 Consent enforced in ranking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9" y="27432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 Channel sensitivity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9" y="338328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 Auditable TAPL decisions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9" y="40233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 Explainability in every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9" y="466344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 Clear healthcare scope boundaries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7085"/>
                </a:solidFill>
                <a:latin typeface="Calibri"/>
              </a:rPr>
              <a:t>EDTA  ·  Governed Personalization  ·  Benefits  ·  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Benefit → capability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7085"/>
                </a:solidFill>
                <a:latin typeface="Calibri"/>
              </a:rPr>
              <a:t>Concrete mechanisms behind each claim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113385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1338560" cy="4572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Benefit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325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EDTA 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11338560" cy="56692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Answer “why this offer?”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92024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EDS breakdown, rules fired, TAPL reason, explanation_source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50008"/>
            <a:ext cx="113385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87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Stop over-messaging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4871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EML fatigue + TAPL delay/soften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916936"/>
            <a:ext cx="11338560" cy="56692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540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Honor consent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0540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TAPL generic_fallback when personalization=false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483863"/>
            <a:ext cx="113385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2102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Control LLM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621023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HAOE tier routing, session cost budget, circuit breaker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050791"/>
            <a:ext cx="11338560" cy="56692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87951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Improve offer 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18795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Empathy constraints + OSE expected outcome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617720"/>
            <a:ext cx="113385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Reuse across industries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7548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Same engine; swap catalog + YAML policy packs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184648"/>
            <a:ext cx="11338560" cy="566928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218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Ship with 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32180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CI, OpenAPI contracts, demo + benchmark scripts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7085"/>
                </a:solidFill>
                <a:latin typeface="Calibri"/>
              </a:rPr>
              <a:t>EDTA  ·  Governed Personalization  ·  Benefits  ·  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A4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Traditional architectures vs EDTA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7085"/>
                </a:solidFill>
                <a:latin typeface="Calibri"/>
              </a:rPr>
              <a:t>EDTA does not discard what worked — it completes it for AI-era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1338560" cy="4572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325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What it does 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79" y="1325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Where it breaks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325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EDTA upgrade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11338560" cy="960120"/>
          </a:xfrm>
          <a:prstGeom prst="rect">
            <a:avLst/>
          </a:prstGeom>
          <a:solidFill>
            <a:srgbClr val="FFFBF3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44054"/>
                </a:solidFill>
                <a:latin typeface="Calibri"/>
              </a:rPr>
              <a:t>Rules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574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Fast, auditable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79" y="205740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Brittle NLP /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574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4D"/>
                </a:solidFill>
                <a:latin typeface="Calibri"/>
              </a:rPr>
              <a:t>Keep rules as tier-1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788920"/>
            <a:ext cx="113385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6324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44054"/>
                </a:solidFill>
                <a:latin typeface="Calibri"/>
              </a:rPr>
              <a:t>Monolithic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0632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Catalog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79" y="306324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Opaque; no consent in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0632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4D"/>
                </a:solidFill>
                <a:latin typeface="Calibri"/>
              </a:rPr>
              <a:t>EDS + TAPL + OSE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794760"/>
            <a:ext cx="11338560" cy="960120"/>
          </a:xfrm>
          <a:prstGeom prst="rect">
            <a:avLst/>
          </a:prstGeom>
          <a:solidFill>
            <a:srgbClr val="FFFBF3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690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44054"/>
                </a:solidFill>
                <a:latin typeface="Calibri"/>
              </a:rPr>
              <a:t>LLM bolt-on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069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Handles ambiguity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79" y="406908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Cost + weak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6908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4D"/>
                </a:solidFill>
                <a:latin typeface="Calibri"/>
              </a:rPr>
              <a:t>Optional, budget-gated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800600"/>
            <a:ext cx="113385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749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44054"/>
                </a:solidFill>
                <a:latin typeface="Calibri"/>
              </a:rPr>
              <a:t>CRM segments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50749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Batch targeting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79" y="507492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Stateless live decisions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507492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4D"/>
                </a:solidFill>
                <a:latin typeface="Calibri"/>
              </a:rPr>
              <a:t>EML + TKGE 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7085"/>
                </a:solidFill>
                <a:latin typeface="Calibri"/>
              </a:rPr>
              <a:t>EDTA  ·  Governed Personalization  ·  Benefits  ·  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Useful across industries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7085"/>
                </a:solidFill>
                <a:latin typeface="Calibri"/>
              </a:rPr>
              <a:t>Same engine · different catalog, rules, and TAPL sensitivity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7033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7324D"/>
                </a:solidFill>
                <a:latin typeface="Calibri"/>
              </a:rPr>
              <a:t>Travel / rental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Empathy, TCO, journey upsell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7A4D"/>
                </a:solidFill>
                <a:latin typeface="Calibri"/>
              </a:rPr>
              <a:t>11 live scenarios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7033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002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7324D"/>
                </a:solidFill>
                <a:latin typeface="Calibri"/>
              </a:rPr>
              <a:t>Hospitality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Room / booking assists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974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7A4D"/>
                </a:solidFill>
                <a:latin typeface="Calibri"/>
              </a:rPr>
              <a:t>Hotel rule pack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25880"/>
            <a:ext cx="37033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16002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7324D"/>
                </a:solidFill>
                <a:latin typeface="Calibri"/>
              </a:rPr>
              <a:t>Restaurant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210312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QR menu, mobile promos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26974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7A4D"/>
                </a:solidFill>
                <a:latin typeface="Calibri"/>
              </a:rPr>
              <a:t>Channel fit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11880"/>
            <a:ext cx="37033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7324D"/>
                </a:solidFill>
                <a:latin typeface="Calibri"/>
              </a:rPr>
              <a:t>Banking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8912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Offer + advisor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7A4D"/>
                </a:solidFill>
                <a:latin typeface="Calibri"/>
              </a:rPr>
              <a:t>Compliance sensitivity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611880"/>
            <a:ext cx="37033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8862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7324D"/>
                </a:solidFill>
                <a:latin typeface="Calibri"/>
              </a:rPr>
              <a:t>Healthcare*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38912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HCP education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9834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7A4D"/>
                </a:solidFill>
                <a:latin typeface="Calibri"/>
              </a:rPr>
              <a:t>Suppress on SMS/wearable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611880"/>
            <a:ext cx="37033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9" y="38862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7324D"/>
                </a:solidFill>
                <a:latin typeface="Calibri"/>
              </a:rPr>
              <a:t>Retail / IoT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9" y="438912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Upsell + micro-prompts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9" y="49834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7A4D"/>
                </a:solidFill>
                <a:latin typeface="Calibri"/>
              </a:rPr>
              <a:t>Connected channels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  <a:latin typeface="Calibri"/>
              </a:rPr>
              <a:t>*Healthcare scope: approved HCP education / commercial routing — not clinical decision support.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7085"/>
                </a:solidFill>
                <a:latin typeface="Calibri"/>
              </a:rPr>
              <a:t>EDTA  ·  Governed Personalization  ·  Benefits  ·  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F6F9F"/>
                </a:solidFill>
                <a:latin typeface="Calibri"/>
              </a:rPr>
              <a:t>PART 04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Evidence &amp; How to Use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C5D4E3"/>
                </a:solidFill>
                <a:latin typeface="Calibri"/>
              </a:rPr>
              <a:t>Demo, honest limits, integration,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EB8CF"/>
                </a:solidFill>
                <a:latin typeface="Calibri"/>
              </a:rP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Evidence &amp;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7085"/>
                </a:solidFill>
                <a:latin typeface="Calibri"/>
              </a:rPr>
              <a:t>Reference implementation with reproducible artifacts — not marketing claims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6692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5669280" cy="50292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What you can run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Calibri"/>
              </a:rP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edta-api.onrender.com/scenario-demo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Calibri"/>
              </a:rPr>
              <a:t>Open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github.com/jeraldcs/edta-complete-api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91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Calibri"/>
              </a:rPr>
              <a:t>OpenAPI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Swagger at /docs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Calibri"/>
              </a:rPr>
              <a:t>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06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167 pytest cases +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Calibri"/>
              </a:rPr>
              <a:t>Diagrams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46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11-page architecture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12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Calibri"/>
              </a:rPr>
              <a:t>FAQ / 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86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docs/FAQ.md + this presentation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28016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FFFBF3"/>
          </a:solidFill>
          <a:ln>
            <a:solidFill>
              <a:srgbClr val="E6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5544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4D00"/>
                </a:solidFill>
                <a:latin typeface="Calibri"/>
              </a:rPr>
              <a:t>Demo script (5 minutes)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1. Loyalty family SUV — full stack scores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2. No consent → TAPL generic_fallback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3. High fatigue → delay / soften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4. Compare vs traditional chips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5. Open Scoring Signals + architecture panels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44054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7A4D00"/>
                </a:solidFill>
                <a:latin typeface="Calibri"/>
              </a:rPr>
              <a:t>Honesty bounds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Travel matrix = alignment proxy, not A/B lift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Local Docker for latency; Render cold-start separate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• Reference architecture ≠ Fortune 500 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7085"/>
                </a:solidFill>
                <a:latin typeface="Calibri"/>
              </a:rPr>
              <a:t>EDTA  ·  Governed Personalization  ·  Evidence  ·  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How to integrate with any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7085"/>
                </a:solidFill>
                <a:latin typeface="Calibri"/>
              </a:rPr>
              <a:t>Versioned /v1 API — BFF, mobile, chatbot, partner, or event-driven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6858000" cy="475488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8860B"/>
                </a:solidFill>
                <a:latin typeface="Calibri"/>
              </a:rPr>
              <a:t>Core endpoints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POST /v1/recommend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POST /v1/recommend-from-scenario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7E3EF"/>
                </a:solidFill>
                <a:latin typeface="Calibri"/>
              </a:rPr>
              <a:t>POST /v1/feedback   ·   POST /v1/compare-outcomes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B8860B"/>
                </a:solidFill>
                <a:latin typeface="Calibri"/>
              </a:rPr>
              <a:t>Auth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X-API-Key when EDTA_API_KEY is set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D7E3EF"/>
                </a:solidFill>
                <a:latin typeface="Calibri"/>
              </a:rPr>
              <a:t>Browser demo uses /demo-api proxy (no client key)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B8860B"/>
                </a:solidFill>
                <a:latin typeface="Calibri"/>
              </a:rPr>
              <a:t>Persist for audit / support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request_id · TAPL action · inference tier · 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80160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Web / 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7190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BFF enriches CustomerContext from CDP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240280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2377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6791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recommend-from-scenario + channel=chatbot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200400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337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Batch / CRM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6393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Async /v1/recommend/batch + job poll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160520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97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5994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Webhooks (HTTPS, SSRF-validated)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5120640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5257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7324D"/>
                </a:solidFill>
                <a:latin typeface="Calibri"/>
              </a:rPr>
              <a:t>New industry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5595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44054"/>
                </a:solidFill>
                <a:latin typeface="Calibri"/>
              </a:rPr>
              <a:t>Swap catalog + YAML; keep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7085"/>
                </a:solidFill>
                <a:latin typeface="Calibri"/>
              </a:rPr>
              <a:t>EDTA  ·  Governed Personalization  ·  How to use  ·  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A4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Lessons for architects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7085"/>
                </a:solidFill>
                <a:latin typeface="Calibri"/>
              </a:rPr>
              <a:t>Takeaways you can apply even if you never deploy this exact repo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6F9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361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324D"/>
                </a:solidFill>
                <a:latin typeface="Calibri"/>
              </a:rPr>
              <a:t>LLMs should not own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Keep consent, fatigue, and compliance in policy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6F9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5361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324D"/>
                </a:solidFill>
                <a:latin typeface="Calibri"/>
              </a:rPr>
              <a:t>Trust must change the rank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Logging trust in analytics is not governance.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88036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6F9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1363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324D"/>
                </a:solidFill>
                <a:latin typeface="Calibri"/>
              </a:rPr>
              <a:t>Explainability is an API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611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If it is not in the response, teams will dig logs.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8036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108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6F9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1363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324D"/>
                </a:solidFill>
                <a:latin typeface="Calibri"/>
              </a:rPr>
              <a:t>Tier routing must be explicit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611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HAOE + YAML beats hidden if/else model selection.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48056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6F9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7365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324D"/>
                </a:solidFill>
                <a:latin typeface="Calibri"/>
              </a:rPr>
              <a:t>Benchmark honestly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212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Isolate tiers; label demo proxies; separate cold-start.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48056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709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6F9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7365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324D"/>
                </a:solidFill>
                <a:latin typeface="Calibri"/>
              </a:rPr>
              <a:t>Complete traditional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5212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44054"/>
                </a:solidFill>
                <a:latin typeface="Calibri"/>
              </a:rPr>
              <a:t>Rules and ML still matter — AI is not a full replacement.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7085"/>
                </a:solidFill>
                <a:latin typeface="Calibri"/>
              </a:rPr>
              <a:t>EDTA  ·  Governed Personalization  ·  Takeaways  ·  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did we show this?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D7E3EF"/>
                </a:solidFill>
                <a:latin typeface="Calibri"/>
              </a:rPr>
              <a:t>Because trust changed the rank — not only the 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7E3EF"/>
                </a:solidFill>
                <a:latin typeface="Calibri"/>
              </a:rPr>
              <a:t>Live demo   https://edta-api.onrender.com/scenario-demo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D7E3EF"/>
                </a:solidFill>
                <a:latin typeface="Calibri"/>
              </a:rPr>
              <a:t>GitHub      https://github.com/jeraldcs/edta-complete-api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D7E3EF"/>
                </a:solidFill>
                <a:latin typeface="Calibri"/>
              </a:rPr>
              <a:t>FAQ         docs/FAQ.md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D7E3EF"/>
                </a:solidFill>
                <a:latin typeface="Calibri"/>
              </a:rPr>
              <a:t>Compare     docs/TRADITIONAL_VS_EDTA.md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D7E3EF"/>
                </a:solidFill>
                <a:latin typeface="Calibri"/>
              </a:rPr>
              <a:t>Diagrams    docs/edta_architecture_diagrams_full.pdf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D7E3EF"/>
                </a:solidFill>
                <a:latin typeface="Calibri"/>
              </a:rPr>
              <a:t>Contact     jerald.cs@gmail.com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EB8CF"/>
                </a:solidFill>
                <a:latin typeface="Calibri"/>
              </a:rP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